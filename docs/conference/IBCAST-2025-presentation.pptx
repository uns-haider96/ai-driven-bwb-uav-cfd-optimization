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7" r:id="rId13"/>
    <p:sldId id="291" r:id="rId14"/>
    <p:sldId id="292" r:id="rId15"/>
    <p:sldId id="284" r:id="rId16"/>
    <p:sldId id="267" r:id="rId17"/>
    <p:sldId id="268" r:id="rId18"/>
    <p:sldId id="283" r:id="rId19"/>
    <p:sldId id="288" r:id="rId20"/>
    <p:sldId id="289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80" r:id="rId30"/>
    <p:sldId id="281" r:id="rId31"/>
    <p:sldId id="282" r:id="rId32"/>
    <p:sldId id="278" r:id="rId33"/>
    <p:sldId id="279" r:id="rId34"/>
    <p:sldId id="285" r:id="rId35"/>
    <p:sldId id="286" r:id="rId36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850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F5EE2-0BC2-23E7-F894-F7C294D7D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F39F79-E9FC-F892-4626-BB6DAA50C4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452DD-500E-E954-14C1-CD3983B76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33052-CDAA-4878-9E23-CD019D01AEBD}" type="datetimeFigureOut">
              <a:rPr lang="en-PK" smtClean="0"/>
              <a:t>08/20/2025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4458A-94A4-5C66-48D2-791242EC2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D5353-16E8-A040-9E67-8F4D2A9EE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7AE4-91D7-4937-B929-2E729864082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37518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868FB-E3CF-6F5E-80A3-9EE36D566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B9412-323E-200D-5E20-FC35021C2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CE388-D3C4-351E-2592-42094031B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33052-CDAA-4878-9E23-CD019D01AEBD}" type="datetimeFigureOut">
              <a:rPr lang="en-PK" smtClean="0"/>
              <a:t>08/20/2025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A200D-A256-C624-AB91-132CB6422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B8A77-6817-DE03-6879-CC64FF22A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7AE4-91D7-4937-B929-2E729864082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96586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DCA4C-B136-8D55-0FF3-4B061AF7D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C89C6-331D-30BE-C0F3-C64CD265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ABDF8-AEE9-DF33-1733-431E84F92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33052-CDAA-4878-9E23-CD019D01AEBD}" type="datetimeFigureOut">
              <a:rPr lang="en-PK" smtClean="0"/>
              <a:t>08/20/2025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11B61-3E44-9B44-2763-5B83388CB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84742-091A-AAC4-42BA-F558BEECF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7AE4-91D7-4937-B929-2E729864082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5766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854C1-31C8-4829-93B7-6985953E2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1B295-F5C5-0785-267A-B48FCBA5E8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136504-D9EC-109A-E2F0-3F8651E438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26964B-9632-2178-35BB-59B378AA7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33052-CDAA-4878-9E23-CD019D01AEBD}" type="datetimeFigureOut">
              <a:rPr lang="en-PK" smtClean="0"/>
              <a:t>08/20/2025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D53342-5663-9950-D03B-D6B0C312E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4ABA5-BB18-5EFF-BEDD-6528088FD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7AE4-91D7-4937-B929-2E729864082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07665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04C76-E1B5-AEA1-20F7-2AEDD45A3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D4EFD-6DEE-06DE-EF32-D0F8AF23B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135392-C6CE-D9F3-5EC0-6D234776B6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8D8054-EB84-E233-D443-A674D28B70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D58EE7-5336-48CA-ECF5-2FDDE3E6C7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EC1223-A9CD-8B56-3AB0-2AAB4C49A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33052-CDAA-4878-9E23-CD019D01AEBD}" type="datetimeFigureOut">
              <a:rPr lang="en-PK" smtClean="0"/>
              <a:t>08/20/2025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48C2B4-F87B-7FC8-2129-D61AA4818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6F5724-3150-5AD3-7544-A2EF081F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7AE4-91D7-4937-B929-2E729864082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58850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9AB41-2545-90EF-59DF-3D2E2B08E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2459A0-7CF8-D4AF-A566-536C82AEA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33052-CDAA-4878-9E23-CD019D01AEBD}" type="datetimeFigureOut">
              <a:rPr lang="en-PK" smtClean="0"/>
              <a:t>08/20/2025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2B5BB5-8581-F5BD-2546-3D8C13546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D56179-992E-8AC1-28BE-01BD0DD6E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7AE4-91D7-4937-B929-2E729864082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13123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CF9561-2551-01F6-D1B5-475742BCB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33052-CDAA-4878-9E23-CD019D01AEBD}" type="datetimeFigureOut">
              <a:rPr lang="en-PK" smtClean="0"/>
              <a:t>08/20/2025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208B66-24CC-09B0-5C16-DE6F2538F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764E8-98F5-A666-4EB2-D4FAE19DE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7AE4-91D7-4937-B929-2E729864082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16346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16918-733F-39C3-7A21-F02BD8B1B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3F49F-257D-BA97-8CDA-B6FFBE098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148300-5A33-0153-25D3-B3AD11AEAC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8071E-770E-65F6-8440-2E5AE859B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33052-CDAA-4878-9E23-CD019D01AEBD}" type="datetimeFigureOut">
              <a:rPr lang="en-PK" smtClean="0"/>
              <a:t>08/20/2025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73033-AA89-15BC-20AE-77CF01FFB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F81B3-9125-5CB5-6057-BA586B93C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7AE4-91D7-4937-B929-2E729864082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0128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C3F8C-4DB7-A531-10AF-DB8CD639D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C2638F-AE5F-81D9-AAD2-C804EC3D8E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50BF6D-87B0-99D0-D43B-CED32B04E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144F1-F3CA-4DFE-9F6F-C021C0ED8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33052-CDAA-4878-9E23-CD019D01AEBD}" type="datetimeFigureOut">
              <a:rPr lang="en-PK" smtClean="0"/>
              <a:t>08/20/2025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3BBCCF-424F-CA91-F2A4-31B60B9B8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273EC-6341-87F5-10B9-A75C9E345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7AE4-91D7-4937-B929-2E729864082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18157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55C49-C3F5-DB92-C8BC-8CDCA0FD1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B7D259-9CAD-85B0-2220-BAB2B874A7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29F1B-279C-B8C2-61DD-DC045EDF2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33052-CDAA-4878-9E23-CD019D01AEBD}" type="datetimeFigureOut">
              <a:rPr lang="en-PK" smtClean="0"/>
              <a:t>08/20/2025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92D68-651D-616B-BC55-567C36E30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BEA44-291B-7DD2-5264-78FC31712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7AE4-91D7-4937-B929-2E729864082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89720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C5AEFF-2037-C96D-60D1-63BE558A63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3CFA9D-BA7F-9D09-8806-366ECAB61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7C8D0-DC96-BD96-691C-77BF79CD6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33052-CDAA-4878-9E23-CD019D01AEBD}" type="datetimeFigureOut">
              <a:rPr lang="en-PK" smtClean="0"/>
              <a:t>08/20/2025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7B449-1D8E-A892-23EB-881E6477C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4CC65-F478-5F6F-50C3-8C2511CF9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7AE4-91D7-4937-B929-2E729864082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05748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A0F60-E534-DEB7-C840-55C45B23F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B2A4A-2590-D1EE-D270-D0318C76E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02037-72E7-E7A9-1450-A08681FDB5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533052-CDAA-4878-9E23-CD019D01AEBD}" type="datetimeFigureOut">
              <a:rPr lang="en-PK" smtClean="0"/>
              <a:t>08/20/2025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DED6F-F34A-E923-0186-900CA123F0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9D263-3495-586E-E52F-8190A90FA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47AE4-91D7-4937-B929-2E7298640826}" type="slidenum">
              <a:rPr lang="en-PK" smtClean="0"/>
              <a:t>‹#›</a:t>
            </a:fld>
            <a:endParaRPr lang="en-PK"/>
          </a:p>
        </p:txBody>
      </p:sp>
      <p:pic>
        <p:nvPicPr>
          <p:cNvPr id="8" name="Picture 7" descr="A blue and white logo&#10;&#10;AI-generated content may be incorrect.">
            <a:extLst>
              <a:ext uri="{FF2B5EF4-FFF2-40B4-BE49-F238E27FC236}">
                <a16:creationId xmlns:a16="http://schemas.microsoft.com/office/drawing/2014/main" id="{CC1BC322-0CFB-6D35-0F60-386A9E0DA8F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0955" y="6402"/>
            <a:ext cx="981411" cy="9801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B4AE5E-6992-63D1-8B53-4C33D8A675D7}"/>
              </a:ext>
            </a:extLst>
          </p:cNvPr>
          <p:cNvSpPr txBox="1"/>
          <p:nvPr userDrawn="1"/>
        </p:nvSpPr>
        <p:spPr>
          <a:xfrm>
            <a:off x="9733563" y="893191"/>
            <a:ext cx="2496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COMSATS University Islamabad, Wah Campus</a:t>
            </a:r>
          </a:p>
          <a:p>
            <a:pPr algn="ctr"/>
            <a:r>
              <a:rPr lang="en-US" sz="900" dirty="0"/>
              <a:t>Department of Mechanical Engineering</a:t>
            </a:r>
            <a:endParaRPr lang="en-PK" sz="900" dirty="0"/>
          </a:p>
        </p:txBody>
      </p:sp>
    </p:spTree>
    <p:extLst>
      <p:ext uri="{BB962C8B-B14F-4D97-AF65-F5344CB8AC3E}">
        <p14:creationId xmlns:p14="http://schemas.microsoft.com/office/powerpoint/2010/main" val="208225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FC4F2-DDED-C39C-7B5B-B191710F7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07650"/>
          </a:xfrm>
        </p:spPr>
        <p:txBody>
          <a:bodyPr>
            <a:normAutofit/>
          </a:bodyPr>
          <a:lstStyle/>
          <a:p>
            <a:r>
              <a:rPr lang="en-US" sz="2800" b="1" dirty="0"/>
              <a:t>Design and Optimization of a Blended Wing Body UAV Using AI-Driven Surrogate Modeling and CFD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91AA98-438D-89E7-C872-01D13168D6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00107"/>
            <a:ext cx="9144000" cy="1655762"/>
          </a:xfrm>
        </p:spPr>
        <p:txBody>
          <a:bodyPr/>
          <a:lstStyle/>
          <a:p>
            <a:r>
              <a:rPr lang="en-US" dirty="0"/>
              <a:t>Dr. Muhammad Shoaib Naseem, M </a:t>
            </a:r>
            <a:r>
              <a:rPr lang="en-US" dirty="0" err="1"/>
              <a:t>Uns</a:t>
            </a:r>
            <a:r>
              <a:rPr lang="en-US" dirty="0"/>
              <a:t> Haider Shah, M Nasih Ul Hassan, Rimsha Zubair, Ayman Afzal</a:t>
            </a:r>
          </a:p>
          <a:p>
            <a:r>
              <a:rPr lang="en-US" b="1" dirty="0"/>
              <a:t>Presented By: Muhammad </a:t>
            </a:r>
            <a:r>
              <a:rPr lang="en-US" b="1" dirty="0" err="1"/>
              <a:t>Uns</a:t>
            </a:r>
            <a:r>
              <a:rPr lang="en-US" b="1" dirty="0"/>
              <a:t> Haider Shah</a:t>
            </a:r>
          </a:p>
        </p:txBody>
      </p:sp>
    </p:spTree>
    <p:extLst>
      <p:ext uri="{BB962C8B-B14F-4D97-AF65-F5344CB8AC3E}">
        <p14:creationId xmlns:p14="http://schemas.microsoft.com/office/powerpoint/2010/main" val="2635168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536F4-3D0B-03A5-4B09-54BE93B09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Research Goal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F5898-F2E7-58D1-BF16-9DEBEFD71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Introduction: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Blended Wing Body (BWB) UAVs offer high aerodynamic efficiency by integrating the wing and fuselage.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Limited propulsion power at small scales restricts endurance.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Research Goal: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Increase UAV endurance using a low‑power propulsion system through surface topology optimization using AI‑driven geometry optimization.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PK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46144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1AEA2-4EEF-1BFF-CA4F-F4F5F0AE8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Significance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54A25-2CFD-2039-9C38-89F073CBF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Key Impact: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Extended gliding time without propulsion provides critical extra seconds in emergencies.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Enhances occupants’ safety by allowing longer unpowered flight for controlled emergency landings.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Potential to save lives and improve overall aerospace safety</a:t>
            </a:r>
            <a:endParaRPr kumimoji="0" lang="en-PK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241284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4170B-5D8D-4776-F1FA-00FBE5E56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Motivation for Surrogates</a:t>
            </a:r>
            <a:b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2E110-F45C-F37B-FA82-5DCEA13AD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Full-fidelity CFD: minutes-to-hours per run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Large design space: span, sweep, twist, taper, airfoils…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Goal: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Millisecond evaluations to drive rapid optimization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PK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501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854B0-7E5D-647F-6508-41AA2235D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Workflow Overview</a:t>
            </a:r>
            <a:b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D12E9-714C-88B1-7C83-CA2BDE795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Sample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50 wing geometries data</a:t>
            </a:r>
            <a:endParaRPr kumimoji="0" lang="en-US" sz="2400" b="0" i="1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Preprocess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data (normalization, train/test split)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Train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MLP surrogate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Predict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performance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Optimize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geometry via AI loop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PK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87838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42F416-BC4A-8785-4372-EA3907900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762001"/>
            <a:ext cx="4080362" cy="1708242"/>
          </a:xfrm>
        </p:spPr>
        <p:txBody>
          <a:bodyPr anchor="ctr">
            <a:normAutofit/>
          </a:bodyPr>
          <a:lstStyle/>
          <a:p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Dataset &amp; Features</a:t>
            </a:r>
            <a:br>
              <a:rPr kumimoji="0" lang="en-US" sz="4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endParaRPr lang="en-PK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02A04-B412-0C0E-E9C1-65EA4D278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3" y="2470244"/>
            <a:ext cx="4080361" cy="3769834"/>
          </a:xfrm>
        </p:spPr>
        <p:txBody>
          <a:bodyPr anchor="ctr">
            <a:normAutofit/>
          </a:bodyPr>
          <a:lstStyle/>
          <a:p>
            <a:pPr marL="228600" marR="0" lvl="0" indent="-22860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Inputs (m=10):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span, root &amp; tip chords, quarter-chord sweep, taper, twist, 3 airfoil IDs</a:t>
            </a:r>
          </a:p>
          <a:p>
            <a:pPr marL="228600" marR="0" lvl="0" indent="-22860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Outputs: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L/D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drag coefficient, required power</a:t>
            </a:r>
          </a:p>
          <a:p>
            <a:pPr marL="228600" marR="0" lvl="0" indent="-22860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Latin-Hypercube sampling ensures space-filling</a:t>
            </a:r>
          </a:p>
          <a:p>
            <a:pPr marL="228600" marR="0" lvl="0" indent="-22860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PK" sz="2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PK" sz="20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0"/>
            <a:ext cx="67817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4" descr="A group of graphs with text&#10;&#10;AI-generated content may be incorrect.">
            <a:extLst>
              <a:ext uri="{FF2B5EF4-FFF2-40B4-BE49-F238E27FC236}">
                <a16:creationId xmlns:a16="http://schemas.microsoft.com/office/drawing/2014/main" id="{F4C8D8EA-5366-C424-40AE-FF613410F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68651"/>
            <a:ext cx="5334197" cy="432069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81467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5" descr="A graph on a screen&#10;&#10;AI-generated content may be incorrect.">
            <a:extLst>
              <a:ext uri="{FF2B5EF4-FFF2-40B4-BE49-F238E27FC236}">
                <a16:creationId xmlns:a16="http://schemas.microsoft.com/office/drawing/2014/main" id="{86C40835-0B37-04E6-2920-ACE63BF643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5088" y="643467"/>
            <a:ext cx="2228424" cy="5571066"/>
          </a:xfrm>
          <a:prstGeom prst="rect">
            <a:avLst/>
          </a:prstGeom>
        </p:spPr>
      </p:pic>
      <p:pic>
        <p:nvPicPr>
          <p:cNvPr id="5" name="Content Placeholder 7" descr="A graph of different sizes and colors&#10;&#10;AI-generated content may be incorrect.">
            <a:extLst>
              <a:ext uri="{FF2B5EF4-FFF2-40B4-BE49-F238E27FC236}">
                <a16:creationId xmlns:a16="http://schemas.microsoft.com/office/drawing/2014/main" id="{068E8EDE-E4EA-76B5-E0E9-CDFE198915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1318948"/>
            <a:ext cx="5291667" cy="4220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186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9536A1-37FD-6A39-C46C-588D9773F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Model Comparison</a:t>
            </a:r>
            <a:br>
              <a:rPr kumimoji="0" lang="en-US" sz="4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endParaRPr lang="en-PK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BB21F-8AAC-5EC5-A4CC-960623064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pPr marL="228600" marR="0" lvl="0" indent="-22860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MLP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(2×50 neurons) best: RMSE&lt;0.02, R²&gt;0.98</a:t>
            </a:r>
          </a:p>
          <a:p>
            <a:pPr marL="228600" marR="0" lvl="0" indent="-22860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Nonlinear models outperform linear baseline</a:t>
            </a:r>
          </a:p>
          <a:p>
            <a:pPr marL="228600" marR="0" lvl="0" indent="-22860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PK" sz="2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PK" sz="2000"/>
          </a:p>
        </p:txBody>
      </p:sp>
      <p:pic>
        <p:nvPicPr>
          <p:cNvPr id="4" name="Picture 3" descr="A graph of a graph&#10;&#10;AI-generated content may be incorrect.">
            <a:extLst>
              <a:ext uri="{FF2B5EF4-FFF2-40B4-BE49-F238E27FC236}">
                <a16:creationId xmlns:a16="http://schemas.microsoft.com/office/drawing/2014/main" id="{F15FA6C9-7722-6EDD-327D-204D4174F3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848"/>
          <a:stretch>
            <a:fillRect/>
          </a:stretch>
        </p:blipFill>
        <p:spPr>
          <a:xfrm>
            <a:off x="6857797" y="387048"/>
            <a:ext cx="5334204" cy="5950857"/>
          </a:xfrm>
          <a:prstGeom prst="rect">
            <a:avLst/>
          </a:prstGeom>
          <a:noFill/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87045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7FC7D-A1C1-84E4-BD5A-1B1F18038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MLP Architecture</a:t>
            </a:r>
            <a:b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F77E1-F2E4-9446-12EF-85CBA7F5F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Layers: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Input → 50 neurons → 50 neurons → Output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Activation: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ReLU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Solver: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Adam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P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463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482DB-9184-6DA0-743C-FC5FB8B5F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Rapid Design Exploration</a:t>
            </a:r>
            <a:b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4E044-6E5F-9694-D611-F5819726D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Time Comparison: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CFD run: ~30 min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Surrogate eval: &lt;0.001 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Enables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10⁴–10⁵ candidates in the same time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P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025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A49AF-300A-8260-F8ED-A50720B8B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Integration with Optimization</a:t>
            </a:r>
            <a:b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56E05-B16A-1E04-1C1B-19153301E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Genetic Algorithm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or Bayesian Optimizer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Surrogate as objective function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Final top candidates validated by CFD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6928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A4710-9B83-51F0-5EE0-EF3F4C69C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Initial CAD Model</a:t>
            </a:r>
            <a:endParaRPr lang="en-PK" dirty="0"/>
          </a:p>
        </p:txBody>
      </p:sp>
      <p:pic>
        <p:nvPicPr>
          <p:cNvPr id="5" name="Content Placeholder 4" descr="A drawing of a tool&#10;&#10;AI-generated content may be incorrect.">
            <a:extLst>
              <a:ext uri="{FF2B5EF4-FFF2-40B4-BE49-F238E27FC236}">
                <a16:creationId xmlns:a16="http://schemas.microsoft.com/office/drawing/2014/main" id="{D1F6E231-B886-F845-22F1-9EF39A7081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9853" y="1825625"/>
            <a:ext cx="7192294" cy="4351338"/>
          </a:xfrm>
          <a:noFill/>
        </p:spPr>
      </p:pic>
    </p:spTree>
    <p:extLst>
      <p:ext uri="{BB962C8B-B14F-4D97-AF65-F5344CB8AC3E}">
        <p14:creationId xmlns:p14="http://schemas.microsoft.com/office/powerpoint/2010/main" val="391265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005E4-9F93-EEF5-D9A7-AB9DA1F14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Parameters for Final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D633D-FBB8-1C6E-3AEF-E61319D3F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Airfoil Selection:</a:t>
            </a:r>
          </a:p>
          <a:p>
            <a:r>
              <a:rPr lang="en-US" dirty="0"/>
              <a:t>Root/Center: Selig S1223</a:t>
            </a:r>
          </a:p>
          <a:p>
            <a:r>
              <a:rPr lang="en-US" dirty="0"/>
              <a:t>Mid: NACA 1408</a:t>
            </a:r>
          </a:p>
          <a:p>
            <a:r>
              <a:rPr lang="en-US" dirty="0"/>
              <a:t>Wing: NACA 0012</a:t>
            </a:r>
          </a:p>
          <a:p>
            <a:r>
              <a:rPr lang="en-US" b="1" dirty="0"/>
              <a:t>Wingspan:1.0 m</a:t>
            </a:r>
          </a:p>
          <a:p>
            <a:r>
              <a:rPr lang="en-US" b="1" dirty="0"/>
              <a:t>Root Chord: ~0.30 m</a:t>
            </a:r>
          </a:p>
          <a:p>
            <a:r>
              <a:rPr lang="en-US" b="1" dirty="0"/>
              <a:t>Tip Chord: ~0.15 m</a:t>
            </a:r>
          </a:p>
          <a:p>
            <a:r>
              <a:rPr lang="en-US" b="1" dirty="0"/>
              <a:t>Wing Sweep Angle (</a:t>
            </a:r>
            <a:r>
              <a:rPr lang="el-GR" b="1" dirty="0"/>
              <a:t>Λ</a:t>
            </a:r>
            <a:r>
              <a:rPr lang="en-US" b="1" dirty="0"/>
              <a:t>): </a:t>
            </a:r>
            <a:r>
              <a:rPr lang="el-GR" b="1" dirty="0"/>
              <a:t>20°–35°</a:t>
            </a:r>
            <a:endParaRPr lang="en-US" b="1" dirty="0"/>
          </a:p>
          <a:p>
            <a:r>
              <a:rPr lang="en-US" b="1" dirty="0"/>
              <a:t>Taper Ratio(</a:t>
            </a:r>
            <a:r>
              <a:rPr lang="el-GR" b="1" dirty="0"/>
              <a:t>λ</a:t>
            </a:r>
            <a:r>
              <a:rPr lang="en-US" b="1" dirty="0"/>
              <a:t>): </a:t>
            </a:r>
            <a:r>
              <a:rPr lang="el-GR" b="1" dirty="0"/>
              <a:t>~0.5</a:t>
            </a:r>
            <a:endParaRPr lang="en-US" b="1" dirty="0"/>
          </a:p>
          <a:p>
            <a:r>
              <a:rPr lang="en-US" b="1" dirty="0"/>
              <a:t>Aspect Ratio= 6–8</a:t>
            </a:r>
          </a:p>
          <a:p>
            <a:r>
              <a:rPr lang="en-US" b="1" dirty="0"/>
              <a:t>Wing Twist (</a:t>
            </a:r>
            <a:r>
              <a:rPr lang="el-GR" b="1" dirty="0"/>
              <a:t>θ</a:t>
            </a:r>
            <a:r>
              <a:rPr lang="en-US" b="1" dirty="0"/>
              <a:t>): </a:t>
            </a:r>
            <a:r>
              <a:rPr lang="el-GR" b="1" dirty="0"/>
              <a:t>±0°–±3°</a:t>
            </a:r>
            <a:endParaRPr lang="en-US" b="1" dirty="0"/>
          </a:p>
          <a:p>
            <a:r>
              <a:rPr lang="en-US" b="1" dirty="0"/>
              <a:t>Blending Region: Defined via spline/Bezier curves</a:t>
            </a:r>
          </a:p>
        </p:txBody>
      </p:sp>
    </p:spTree>
    <p:extLst>
      <p:ext uri="{BB962C8B-B14F-4D97-AF65-F5344CB8AC3E}">
        <p14:creationId xmlns:p14="http://schemas.microsoft.com/office/powerpoint/2010/main" val="890615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43178-A03D-A7E6-2B54-5910B761F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Winglet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0412A-A74F-DE60-9575-EF4E026F1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Winglet Root : ~0.10–0.12 m</a:t>
            </a:r>
          </a:p>
          <a:p>
            <a:r>
              <a:rPr lang="en-US" dirty="0"/>
              <a:t>Winglet Tip : ~0.05–0.07 m</a:t>
            </a:r>
          </a:p>
          <a:p>
            <a:r>
              <a:rPr lang="en-US" dirty="0"/>
              <a:t>Winglet Sweep: 10°–20°</a:t>
            </a:r>
          </a:p>
          <a:p>
            <a:r>
              <a:rPr lang="en-US" dirty="0"/>
              <a:t>Winglet Cant Angle: 15°–30°</a:t>
            </a:r>
          </a:p>
          <a:p>
            <a:r>
              <a:rPr lang="en-US" dirty="0"/>
              <a:t>Winglet Twist: ±0°–±2°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034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E9745-37E9-EBB4-E448-E7640B51C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Final CAD Model</a:t>
            </a:r>
            <a:endParaRPr lang="en-PK" dirty="0"/>
          </a:p>
        </p:txBody>
      </p:sp>
      <p:pic>
        <p:nvPicPr>
          <p:cNvPr id="5" name="Content Placeholder 4" descr="A white object with black border&#10;&#10;AI-generated content may be incorrect.">
            <a:extLst>
              <a:ext uri="{FF2B5EF4-FFF2-40B4-BE49-F238E27FC236}">
                <a16:creationId xmlns:a16="http://schemas.microsoft.com/office/drawing/2014/main" id="{D2B621FF-4951-F6A3-309D-86268C30F7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885" y="1825625"/>
            <a:ext cx="7252230" cy="4351338"/>
          </a:xfrm>
          <a:noFill/>
        </p:spPr>
      </p:pic>
    </p:spTree>
    <p:extLst>
      <p:ext uri="{BB962C8B-B14F-4D97-AF65-F5344CB8AC3E}">
        <p14:creationId xmlns:p14="http://schemas.microsoft.com/office/powerpoint/2010/main" val="5301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41B0C-0463-C5DF-EC9B-8C9F9597A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CFD Simulation Setup</a:t>
            </a:r>
            <a:b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DD908-96EF-6DAF-14B1-106FE0D93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PK" altLang="en-PK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Solver &amp; Physics</a:t>
            </a:r>
            <a:endParaRPr kumimoji="0" lang="en-PK" altLang="en-PK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PK" altLang="en-PK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3D, steady pressure‐based RANS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PK" altLang="en-PK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SST k–ω turbulence with heat transfer enabled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PK" altLang="en-PK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Flow Conditions</a:t>
            </a:r>
            <a:endParaRPr kumimoji="0" lang="en-PK" altLang="en-PK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r>
              <a:rPr kumimoji="0" lang="en-PK" altLang="en-PK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Free-stream velocity: </a:t>
            </a:r>
            <a:endParaRPr kumimoji="0" lang="en-US" altLang="en-PK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en-US" altLang="en-PK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1) 30</a:t>
            </a:r>
            <a:r>
              <a:rPr kumimoji="0" lang="en-PK" altLang="en-PK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m/s (Mach 0.088)</a:t>
            </a:r>
            <a:endParaRPr kumimoji="0" lang="en-US" altLang="en-PK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en-US" altLang="en-PK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2) 240 m/s </a:t>
            </a:r>
            <a:r>
              <a:rPr lang="en-PK" altLang="en-PK" sz="2400" dirty="0">
                <a:solidFill>
                  <a:prstClr val="black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(Mach 0.</a:t>
            </a:r>
            <a:r>
              <a:rPr lang="en-US" altLang="en-PK" sz="2400" dirty="0">
                <a:solidFill>
                  <a:prstClr val="black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7</a:t>
            </a:r>
            <a:r>
              <a:rPr lang="en-PK" altLang="en-PK" sz="2400" dirty="0">
                <a:solidFill>
                  <a:prstClr val="black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</a:t>
            </a:r>
            <a:r>
              <a:rPr lang="en-US" altLang="en-PK" sz="2400" dirty="0">
                <a:solidFill>
                  <a:prstClr val="black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endParaRPr kumimoji="0" lang="en-PK" altLang="en-PK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PK" altLang="en-PK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Inlet far-field: T = 300 K, turbulence intensity = 5 %, viscosity ratio = 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PK" altLang="en-PK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Boundary Conditions</a:t>
            </a:r>
            <a:endParaRPr kumimoji="0" lang="en-PK" altLang="en-PK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PK" altLang="en-PK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Pressure-</a:t>
            </a:r>
            <a:r>
              <a:rPr kumimoji="0" lang="en-PK" altLang="en-PK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farfield</a:t>
            </a:r>
            <a:r>
              <a:rPr kumimoji="0" lang="en-PK" altLang="en-PK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inlet/outlet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PK" altLang="en-PK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No-slip, adiabatic </a:t>
            </a:r>
            <a:r>
              <a:rPr kumimoji="0" lang="en-PK" altLang="en-PK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aluminum</a:t>
            </a:r>
            <a:r>
              <a:rPr kumimoji="0" lang="en-PK" altLang="en-PK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walls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PK" altLang="en-PK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Symmetry on vertical side planes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PK" altLang="en-PK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941421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26BFC-24F8-E6BC-5101-AC91DE0CB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CFD Key Aerodynamic Results @ </a:t>
            </a:r>
            <a:r>
              <a:rPr lang="en-US" altLang="en-PK" dirty="0">
                <a:solidFill>
                  <a:prstClr val="black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30</a:t>
            </a:r>
            <a:r>
              <a:rPr lang="en-PK" altLang="en-PK" dirty="0">
                <a:solidFill>
                  <a:prstClr val="black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m/s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C0BF7-5DE9-D642-E1C0-394F7E871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Lift Coefficient (</a:t>
            </a:r>
            <a:r>
              <a:rPr kumimoji="0" lang="en-PK" altLang="en-PK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0" lang="en-PK" altLang="en-PK" b="1" i="1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0" lang="en-US" altLang="en-PK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dirty="0"/>
              <a:t>0.44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Drag Coefficient (</a:t>
            </a:r>
            <a:r>
              <a:rPr kumimoji="0" lang="en-PK" altLang="en-PK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0" lang="en-PK" altLang="en-PK" b="1" i="1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0" lang="en-US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0.004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Lift-to-Drag Ratio (</a:t>
            </a:r>
            <a:r>
              <a:rPr kumimoji="0" lang="en-PK" altLang="en-PK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L/D</a:t>
            </a: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≈ </a:t>
            </a:r>
            <a:r>
              <a:rPr kumimoji="0" lang="en-US" altLang="en-PK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110</a:t>
            </a:r>
            <a:endParaRPr lang="en-PK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PK" altLang="en-PK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34099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FD74A-9A01-0978-6C5D-70611BDAF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CFD Key Aerodynamic Results @ </a:t>
            </a:r>
            <a:r>
              <a:rPr lang="en-US" altLang="en-PK" dirty="0">
                <a:solidFill>
                  <a:prstClr val="black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240</a:t>
            </a:r>
            <a:r>
              <a:rPr lang="en-PK" altLang="en-PK" dirty="0">
                <a:solidFill>
                  <a:prstClr val="black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m/s</a:t>
            </a:r>
            <a:b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53F84-46F2-EA4E-5C15-C78B61F7D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PK" altLang="en-P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Lift Coefficient (</a:t>
            </a:r>
            <a:r>
              <a:rPr lang="en-PK" altLang="en-PK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PK" altLang="en-PK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P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PK" alt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PK" dirty="0"/>
              <a:t>0.0</a:t>
            </a:r>
            <a:r>
              <a:rPr lang="en-US" dirty="0"/>
              <a:t>4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PK" altLang="en-P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Drag Coefficient (</a:t>
            </a:r>
            <a:r>
              <a:rPr lang="en-PK" altLang="en-PK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PK" altLang="en-PK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PK" altLang="en-P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PK" alt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PK" dirty="0"/>
              <a:t>0.004</a:t>
            </a:r>
            <a:endParaRPr lang="en-PK" alt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PK" altLang="en-P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Lift-to-Drag Ratio (</a:t>
            </a:r>
            <a:r>
              <a:rPr lang="en-PK" altLang="en-PK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L/D</a:t>
            </a:r>
            <a:r>
              <a:rPr lang="en-PK" altLang="en-P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PK" alt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≈ </a:t>
            </a:r>
            <a:r>
              <a:rPr lang="en-US" alt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PK" alt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PK" altLang="en-PK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PK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815119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AC713C2-D200-8D04-584A-29704D15C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volume mesh</a:t>
            </a:r>
          </a:p>
        </p:txBody>
      </p:sp>
      <p:pic>
        <p:nvPicPr>
          <p:cNvPr id="5" name="Content Placeholder 4" descr="A computer generated image of a purple and black object&#10;&#10;AI-generated content may be incorrect.">
            <a:extLst>
              <a:ext uri="{FF2B5EF4-FFF2-40B4-BE49-F238E27FC236}">
                <a16:creationId xmlns:a16="http://schemas.microsoft.com/office/drawing/2014/main" id="{37683BDB-E06E-28D9-4DFF-CA9D47B315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179" y="1825625"/>
            <a:ext cx="9669642" cy="4351338"/>
          </a:xfrm>
          <a:noFill/>
        </p:spPr>
      </p:pic>
    </p:spTree>
    <p:extLst>
      <p:ext uri="{BB962C8B-B14F-4D97-AF65-F5344CB8AC3E}">
        <p14:creationId xmlns:p14="http://schemas.microsoft.com/office/powerpoint/2010/main" val="15324397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8B246A5-CEB1-5468-D479-7E70CC669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wing mesh</a:t>
            </a:r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30EDEB3-E105-7FB6-1C79-3022E9C205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793" y="1825625"/>
            <a:ext cx="8490414" cy="4351338"/>
          </a:xfrm>
          <a:noFill/>
        </p:spPr>
      </p:pic>
    </p:spTree>
    <p:extLst>
      <p:ext uri="{BB962C8B-B14F-4D97-AF65-F5344CB8AC3E}">
        <p14:creationId xmlns:p14="http://schemas.microsoft.com/office/powerpoint/2010/main" val="3517242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7436B-877B-3B08-32F8-0334C7B08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kumimoji="0" 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Pressure Lower</a:t>
            </a:r>
            <a:endParaRPr lang="en-PK" dirty="0"/>
          </a:p>
        </p:txBody>
      </p:sp>
      <p:pic>
        <p:nvPicPr>
          <p:cNvPr id="5" name="Content Placeholder 4" descr="A computer generated image of a pressure gauge&#10;&#10;AI-generated content may be incorrect.">
            <a:extLst>
              <a:ext uri="{FF2B5EF4-FFF2-40B4-BE49-F238E27FC236}">
                <a16:creationId xmlns:a16="http://schemas.microsoft.com/office/drawing/2014/main" id="{80F5E693-715D-FEB9-1BAE-0FB4C063B9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947" y="1825625"/>
            <a:ext cx="7984106" cy="4351338"/>
          </a:xfrm>
          <a:noFill/>
        </p:spPr>
      </p:pic>
    </p:spTree>
    <p:extLst>
      <p:ext uri="{BB962C8B-B14F-4D97-AF65-F5344CB8AC3E}">
        <p14:creationId xmlns:p14="http://schemas.microsoft.com/office/powerpoint/2010/main" val="1431773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4290B-ED8A-1B59-DD4A-824C1A7F3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kumimoji="0" 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Pressure Upper</a:t>
            </a:r>
            <a:endParaRPr lang="en-PK" dirty="0"/>
          </a:p>
        </p:txBody>
      </p:sp>
      <p:pic>
        <p:nvPicPr>
          <p:cNvPr id="5" name="Content Placeholder 4" descr="A screen shot of a graph&#10;&#10;AI-generated content may be incorrect.">
            <a:extLst>
              <a:ext uri="{FF2B5EF4-FFF2-40B4-BE49-F238E27FC236}">
                <a16:creationId xmlns:a16="http://schemas.microsoft.com/office/drawing/2014/main" id="{C08EA90D-133D-17F6-F766-39E323785A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947" y="1825625"/>
            <a:ext cx="7984106" cy="4351338"/>
          </a:xfrm>
          <a:noFill/>
        </p:spPr>
      </p:pic>
    </p:spTree>
    <p:extLst>
      <p:ext uri="{BB962C8B-B14F-4D97-AF65-F5344CB8AC3E}">
        <p14:creationId xmlns:p14="http://schemas.microsoft.com/office/powerpoint/2010/main" val="10622331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6C841-67C3-4C41-B376-13A207216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kumimoji="0" 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Velocity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</a:rPr>
              <a:t>mach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 (mid)</a:t>
            </a:r>
            <a:endParaRPr lang="en-PK" dirty="0"/>
          </a:p>
        </p:txBody>
      </p:sp>
      <p:pic>
        <p:nvPicPr>
          <p:cNvPr id="5" name="Content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F4F9DE9-B68F-6880-8087-8D18EFB0D9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983" y="1825625"/>
            <a:ext cx="8058034" cy="4351338"/>
          </a:xfrm>
          <a:noFill/>
        </p:spPr>
      </p:pic>
    </p:spTree>
    <p:extLst>
      <p:ext uri="{BB962C8B-B14F-4D97-AF65-F5344CB8AC3E}">
        <p14:creationId xmlns:p14="http://schemas.microsoft.com/office/powerpoint/2010/main" val="33931070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9285D-E744-F52B-CA83-94E51F2A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kumimoji="0" 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Velocity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</a:rPr>
              <a:t>mach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 (root)</a:t>
            </a:r>
            <a:endParaRPr lang="en-PK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4C5F0D9-ACA9-0539-275B-B2BCD15BCA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947" y="1825625"/>
            <a:ext cx="7984106" cy="4351338"/>
          </a:xfrm>
          <a:noFill/>
        </p:spPr>
      </p:pic>
    </p:spTree>
    <p:extLst>
      <p:ext uri="{BB962C8B-B14F-4D97-AF65-F5344CB8AC3E}">
        <p14:creationId xmlns:p14="http://schemas.microsoft.com/office/powerpoint/2010/main" val="4961467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429A3-C1F6-4585-89CC-A32BD0E8E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kumimoji="0" 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Velocity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</a:rPr>
              <a:t>mach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 (tip)</a:t>
            </a:r>
            <a:endParaRPr lang="en-PK" dirty="0"/>
          </a:p>
        </p:txBody>
      </p:sp>
      <p:pic>
        <p:nvPicPr>
          <p:cNvPr id="5" name="Content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8E24E5D-C073-98B8-2366-55855C1470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983" y="1825625"/>
            <a:ext cx="8058034" cy="4351338"/>
          </a:xfrm>
          <a:noFill/>
        </p:spPr>
      </p:pic>
    </p:spTree>
    <p:extLst>
      <p:ext uri="{BB962C8B-B14F-4D97-AF65-F5344CB8AC3E}">
        <p14:creationId xmlns:p14="http://schemas.microsoft.com/office/powerpoint/2010/main" val="1804384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5AAE1-2ECA-4A9F-8323-9B0235097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kumimoji="0" 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Velocity Vector (mid)</a:t>
            </a:r>
            <a:endParaRPr lang="en-PK" dirty="0"/>
          </a:p>
        </p:txBody>
      </p:sp>
      <p:pic>
        <p:nvPicPr>
          <p:cNvPr id="5" name="Content Placeholder 4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11146415-AED9-33E0-A6DB-DC945231FB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947" y="1825625"/>
            <a:ext cx="7984106" cy="4351338"/>
          </a:xfrm>
          <a:noFill/>
        </p:spPr>
      </p:pic>
    </p:spTree>
    <p:extLst>
      <p:ext uri="{BB962C8B-B14F-4D97-AF65-F5344CB8AC3E}">
        <p14:creationId xmlns:p14="http://schemas.microsoft.com/office/powerpoint/2010/main" val="2866345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48F03-92D6-33EE-1646-7DCED169F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kumimoji="0" 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Velocity Vector (root)</a:t>
            </a:r>
            <a:endParaRPr lang="en-PK" dirty="0"/>
          </a:p>
        </p:txBody>
      </p:sp>
      <p:pic>
        <p:nvPicPr>
          <p:cNvPr id="5" name="Content Placeholder 4" descr="A colorful lines and dots&#10;&#10;AI-generated content may be incorrect.">
            <a:extLst>
              <a:ext uri="{FF2B5EF4-FFF2-40B4-BE49-F238E27FC236}">
                <a16:creationId xmlns:a16="http://schemas.microsoft.com/office/drawing/2014/main" id="{BEBC9141-C7AB-809D-935D-2E43C07B75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454" y="1825625"/>
            <a:ext cx="7805092" cy="4351338"/>
          </a:xfrm>
          <a:noFill/>
        </p:spPr>
      </p:pic>
    </p:spTree>
    <p:extLst>
      <p:ext uri="{BB962C8B-B14F-4D97-AF65-F5344CB8AC3E}">
        <p14:creationId xmlns:p14="http://schemas.microsoft.com/office/powerpoint/2010/main" val="11741782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5B1D2-C5E0-9E84-03A3-FCC4FB7EC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kumimoji="0" 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Velocity Vector (tip)</a:t>
            </a:r>
            <a:endParaRPr lang="en-PK" dirty="0"/>
          </a:p>
        </p:txBody>
      </p:sp>
      <p:pic>
        <p:nvPicPr>
          <p:cNvPr id="5" name="Content Placeholder 4" descr="A screen shot of a graph&#10;&#10;AI-generated content may be incorrect.">
            <a:extLst>
              <a:ext uri="{FF2B5EF4-FFF2-40B4-BE49-F238E27FC236}">
                <a16:creationId xmlns:a16="http://schemas.microsoft.com/office/drawing/2014/main" id="{CA967D33-A350-2499-4D5A-3D36CD5B74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175" y="1825625"/>
            <a:ext cx="7947650" cy="4351338"/>
          </a:xfrm>
          <a:noFill/>
        </p:spPr>
      </p:pic>
    </p:spTree>
    <p:extLst>
      <p:ext uri="{BB962C8B-B14F-4D97-AF65-F5344CB8AC3E}">
        <p14:creationId xmlns:p14="http://schemas.microsoft.com/office/powerpoint/2010/main" val="18804620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A3FF6-4083-1DD9-338D-DEF26516D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Velocity X (mid)</a:t>
            </a:r>
            <a:endParaRPr lang="en-PK" dirty="0"/>
          </a:p>
        </p:txBody>
      </p:sp>
      <p:pic>
        <p:nvPicPr>
          <p:cNvPr id="5" name="Content Placeholder 4" descr="A screen shot of an orange and white object&#10;&#10;AI-generated content may be incorrect.">
            <a:extLst>
              <a:ext uri="{FF2B5EF4-FFF2-40B4-BE49-F238E27FC236}">
                <a16:creationId xmlns:a16="http://schemas.microsoft.com/office/drawing/2014/main" id="{61F22BE5-59E5-3978-6437-D2B25E1701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549" y="1825625"/>
            <a:ext cx="8020901" cy="4351338"/>
          </a:xfrm>
          <a:noFill/>
        </p:spPr>
      </p:pic>
    </p:spTree>
    <p:extLst>
      <p:ext uri="{BB962C8B-B14F-4D97-AF65-F5344CB8AC3E}">
        <p14:creationId xmlns:p14="http://schemas.microsoft.com/office/powerpoint/2010/main" val="5990510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1A173-3DEE-CC08-93DD-E1AB01A97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Velocity X (root)</a:t>
            </a:r>
            <a:endParaRPr lang="en-PK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A6A1FE-0262-78C8-3707-2311E47C27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9943" y="2319897"/>
            <a:ext cx="6192114" cy="3362794"/>
          </a:xfrm>
        </p:spPr>
      </p:pic>
    </p:spTree>
    <p:extLst>
      <p:ext uri="{BB962C8B-B14F-4D97-AF65-F5344CB8AC3E}">
        <p14:creationId xmlns:p14="http://schemas.microsoft.com/office/powerpoint/2010/main" val="7000351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2BC42-A566-4150-4084-3B133DFB7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Velocity X (tip)</a:t>
            </a:r>
            <a:endParaRPr lang="en-PK" dirty="0"/>
          </a:p>
        </p:txBody>
      </p:sp>
      <p:pic>
        <p:nvPicPr>
          <p:cNvPr id="5" name="Content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8A73DFA-83B1-6FBF-50F1-53E5BA1422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180" y="2334186"/>
            <a:ext cx="6201640" cy="3334215"/>
          </a:xfrm>
        </p:spPr>
      </p:pic>
    </p:spTree>
    <p:extLst>
      <p:ext uri="{BB962C8B-B14F-4D97-AF65-F5344CB8AC3E}">
        <p14:creationId xmlns:p14="http://schemas.microsoft.com/office/powerpoint/2010/main" val="8853597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82AE4-0DBD-DCC9-9CE4-06FE3AC86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Lift-to-Drag Ratio Comparison at 30 m/s (Mach 0.088)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06B51-F2CA-4345-B789-D0346E0CA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High-performance gliders: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L/D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30–60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Light single-engine aircraft (e.g., Cessna 172):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L/D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9–12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Long-endurance UAVs: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L/D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12–20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Commercial airliners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L/D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12–16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Military jets: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L/D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5–8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PK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662840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BCC84-91BC-52ED-5304-85B76D5D3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Lift-to-Drag Ratio Comparison at 3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m/s (Mach 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0.088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D2599-B420-FD83-4CA1-C23AD8B70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For designed UAV: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L/D is 110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0"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Surpasses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High-performance gliders,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typical UAVs and light aircraft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Efficiency will be nearly matching high-performance gliders, enabling extended endurance or reduced power requirements in real world conditions.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817068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72774-31A4-71DC-336C-DA92D29DB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Lift-to-Drag Ratio Comparison at 240 m/s (Mach 0.7)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7CE55-18AA-FE6E-3F8F-4F57EC4F3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High-performance UAVs (jet-powered)</a:t>
            </a:r>
          </a:p>
          <a:p>
            <a:pPr marL="0" indent="0">
              <a:buNone/>
            </a:pPr>
            <a:r>
              <a:rPr lang="en-US" dirty="0"/>
              <a:t>• L/D ≈ 8–15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For Designed UAV = 10</a:t>
            </a:r>
            <a:endParaRPr lang="en-PK" b="1" dirty="0"/>
          </a:p>
        </p:txBody>
      </p:sp>
    </p:spTree>
    <p:extLst>
      <p:ext uri="{BB962C8B-B14F-4D97-AF65-F5344CB8AC3E}">
        <p14:creationId xmlns:p14="http://schemas.microsoft.com/office/powerpoint/2010/main" val="11625658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3DC76-74F9-5473-E058-4310A98EF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Q&amp;A</a:t>
            </a:r>
            <a:endParaRPr lang="en-PK" dirty="0"/>
          </a:p>
        </p:txBody>
      </p:sp>
      <p:pic>
        <p:nvPicPr>
          <p:cNvPr id="5" name="Picture 4" descr="Magnifying glass and question mark">
            <a:extLst>
              <a:ext uri="{FF2B5EF4-FFF2-40B4-BE49-F238E27FC236}">
                <a16:creationId xmlns:a16="http://schemas.microsoft.com/office/drawing/2014/main" id="{55DF73BD-3E2F-BD9D-25FB-5CA61D9E54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981" b="8455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71425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792</Words>
  <Application>Microsoft Office PowerPoint</Application>
  <PresentationFormat>Widescreen</PresentationFormat>
  <Paragraphs>116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Design and Optimization of a Blended Wing Body UAV Using AI-Driven Surrogate Modeling and CFD Analysis</vt:lpstr>
      <vt:lpstr>Introduction &amp; Research Goal</vt:lpstr>
      <vt:lpstr>Significance</vt:lpstr>
      <vt:lpstr>Motivation for Surrogates </vt:lpstr>
      <vt:lpstr>Workflow Overview </vt:lpstr>
      <vt:lpstr>Dataset &amp; Features </vt:lpstr>
      <vt:lpstr>PowerPoint Presentation</vt:lpstr>
      <vt:lpstr>Model Comparison </vt:lpstr>
      <vt:lpstr>MLP Architecture </vt:lpstr>
      <vt:lpstr>Rapid Design Exploration </vt:lpstr>
      <vt:lpstr>Integration with Optimization </vt:lpstr>
      <vt:lpstr>Initial CAD Model</vt:lpstr>
      <vt:lpstr>Parameters for Final Design</vt:lpstr>
      <vt:lpstr>Winglet Parameters</vt:lpstr>
      <vt:lpstr>Final CAD Model</vt:lpstr>
      <vt:lpstr>CFD Simulation Setup </vt:lpstr>
      <vt:lpstr>CFD Key Aerodynamic Results @ 30 m/s </vt:lpstr>
      <vt:lpstr>CFD Key Aerodynamic Results @ 240 m/s </vt:lpstr>
      <vt:lpstr>volume mesh</vt:lpstr>
      <vt:lpstr>wing mesh</vt:lpstr>
      <vt:lpstr>Pressure Lower</vt:lpstr>
      <vt:lpstr>Pressure Upper</vt:lpstr>
      <vt:lpstr>Velocity mach (mid)</vt:lpstr>
      <vt:lpstr>Velocity mach (root)</vt:lpstr>
      <vt:lpstr>Velocity mach (tip)</vt:lpstr>
      <vt:lpstr>Velocity Vector (mid)</vt:lpstr>
      <vt:lpstr>Velocity Vector (root)</vt:lpstr>
      <vt:lpstr>Velocity Vector (tip)</vt:lpstr>
      <vt:lpstr>Velocity X (mid)</vt:lpstr>
      <vt:lpstr>Velocity X (root)</vt:lpstr>
      <vt:lpstr>Velocity X (tip)</vt:lpstr>
      <vt:lpstr>Lift-to-Drag Ratio Comparison at 30 m/s (Mach 0.088)</vt:lpstr>
      <vt:lpstr>Lift-to-Drag Ratio Comparison at 30 m/s (Mach 0.088)</vt:lpstr>
      <vt:lpstr>Lift-to-Drag Ratio Comparison at 240 m/s (Mach 0.7)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(FA21-BME-035) MUHAMMAD UNS HAIDER SHAH</dc:creator>
  <cp:lastModifiedBy>Taimur Ali Shams</cp:lastModifiedBy>
  <cp:revision>12</cp:revision>
  <dcterms:created xsi:type="dcterms:W3CDTF">2025-08-05T17:52:25Z</dcterms:created>
  <dcterms:modified xsi:type="dcterms:W3CDTF">2025-08-20T16:20:21Z</dcterms:modified>
</cp:coreProperties>
</file>